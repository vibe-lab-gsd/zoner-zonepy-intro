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3716000" cy="13716000"/>
  <p:notesSz cx="6858000" cy="9144000"/>
  <p:defaultTextStyle>
    <a:defPPr>
      <a:defRPr lang="en-US"/>
    </a:defPPr>
    <a:lvl1pPr marL="0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9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9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4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68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3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57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87" autoAdjust="0"/>
    <p:restoredTop sz="94660"/>
  </p:normalViewPr>
  <p:slideViewPr>
    <p:cSldViewPr snapToGrid="0">
      <p:cViewPr>
        <p:scale>
          <a:sx n="100" d="100"/>
          <a:sy n="100" d="100"/>
        </p:scale>
        <p:origin x="36" y="-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1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38" indent="0" algn="ctr">
              <a:buNone/>
              <a:defRPr sz="3000"/>
            </a:lvl2pPr>
            <a:lvl3pPr marL="1371677" indent="0" algn="ctr">
              <a:buNone/>
              <a:defRPr sz="2700"/>
            </a:lvl3pPr>
            <a:lvl4pPr marL="2057515" indent="0" algn="ctr">
              <a:buNone/>
              <a:defRPr sz="2400"/>
            </a:lvl4pPr>
            <a:lvl5pPr marL="2743351" indent="0" algn="ctr">
              <a:buNone/>
              <a:defRPr sz="2400"/>
            </a:lvl5pPr>
            <a:lvl6pPr marL="3429190" indent="0" algn="ctr">
              <a:buNone/>
              <a:defRPr sz="2400"/>
            </a:lvl6pPr>
            <a:lvl7pPr marL="4115028" indent="0" algn="ctr">
              <a:buNone/>
              <a:defRPr sz="2400"/>
            </a:lvl7pPr>
            <a:lvl8pPr marL="4800866" indent="0" algn="ctr">
              <a:buNone/>
              <a:defRPr sz="2400"/>
            </a:lvl8pPr>
            <a:lvl9pPr marL="5486705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6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0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3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3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38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77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515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351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19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5028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866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705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4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6" y="3651251"/>
            <a:ext cx="5829300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6" y="3651251"/>
            <a:ext cx="5829300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6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3" y="730254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4" y="3362327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38" indent="0">
              <a:buNone/>
              <a:defRPr sz="3000" b="1"/>
            </a:lvl2pPr>
            <a:lvl3pPr marL="1371677" indent="0">
              <a:buNone/>
              <a:defRPr sz="2700" b="1"/>
            </a:lvl3pPr>
            <a:lvl4pPr marL="2057515" indent="0">
              <a:buNone/>
              <a:defRPr sz="2400" b="1"/>
            </a:lvl4pPr>
            <a:lvl5pPr marL="2743351" indent="0">
              <a:buNone/>
              <a:defRPr sz="2400" b="1"/>
            </a:lvl5pPr>
            <a:lvl6pPr marL="3429190" indent="0">
              <a:buNone/>
              <a:defRPr sz="2400" b="1"/>
            </a:lvl6pPr>
            <a:lvl7pPr marL="4115028" indent="0">
              <a:buNone/>
              <a:defRPr sz="2400" b="1"/>
            </a:lvl7pPr>
            <a:lvl8pPr marL="4800866" indent="0">
              <a:buNone/>
              <a:defRPr sz="2400" b="1"/>
            </a:lvl8pPr>
            <a:lvl9pPr marL="5486705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4" y="5010150"/>
            <a:ext cx="5802510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7" y="3362327"/>
            <a:ext cx="5831088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38" indent="0">
              <a:buNone/>
              <a:defRPr sz="3000" b="1"/>
            </a:lvl2pPr>
            <a:lvl3pPr marL="1371677" indent="0">
              <a:buNone/>
              <a:defRPr sz="2700" b="1"/>
            </a:lvl3pPr>
            <a:lvl4pPr marL="2057515" indent="0">
              <a:buNone/>
              <a:defRPr sz="2400" b="1"/>
            </a:lvl4pPr>
            <a:lvl5pPr marL="2743351" indent="0">
              <a:buNone/>
              <a:defRPr sz="2400" b="1"/>
            </a:lvl5pPr>
            <a:lvl6pPr marL="3429190" indent="0">
              <a:buNone/>
              <a:defRPr sz="2400" b="1"/>
            </a:lvl6pPr>
            <a:lvl7pPr marL="4115028" indent="0">
              <a:buNone/>
              <a:defRPr sz="2400" b="1"/>
            </a:lvl7pPr>
            <a:lvl8pPr marL="4800866" indent="0">
              <a:buNone/>
              <a:defRPr sz="2400" b="1"/>
            </a:lvl8pPr>
            <a:lvl9pPr marL="5486705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7" y="5010150"/>
            <a:ext cx="5831088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4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4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3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5" y="914400"/>
            <a:ext cx="4423766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8" y="1974852"/>
            <a:ext cx="6943726" cy="9747251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5" y="4114800"/>
            <a:ext cx="4423766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38" indent="0">
              <a:buNone/>
              <a:defRPr sz="2100"/>
            </a:lvl2pPr>
            <a:lvl3pPr marL="1371677" indent="0">
              <a:buNone/>
              <a:defRPr sz="1800"/>
            </a:lvl3pPr>
            <a:lvl4pPr marL="2057515" indent="0">
              <a:buNone/>
              <a:defRPr sz="1500"/>
            </a:lvl4pPr>
            <a:lvl5pPr marL="2743351" indent="0">
              <a:buNone/>
              <a:defRPr sz="1500"/>
            </a:lvl5pPr>
            <a:lvl6pPr marL="3429190" indent="0">
              <a:buNone/>
              <a:defRPr sz="1500"/>
            </a:lvl6pPr>
            <a:lvl7pPr marL="4115028" indent="0">
              <a:buNone/>
              <a:defRPr sz="1500"/>
            </a:lvl7pPr>
            <a:lvl8pPr marL="4800866" indent="0">
              <a:buNone/>
              <a:defRPr sz="1500"/>
            </a:lvl8pPr>
            <a:lvl9pPr marL="548670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5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5" y="914400"/>
            <a:ext cx="4423766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8" y="1974852"/>
            <a:ext cx="6943726" cy="9747251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38" indent="0">
              <a:buNone/>
              <a:defRPr sz="4200"/>
            </a:lvl2pPr>
            <a:lvl3pPr marL="1371677" indent="0">
              <a:buNone/>
              <a:defRPr sz="3600"/>
            </a:lvl3pPr>
            <a:lvl4pPr marL="2057515" indent="0">
              <a:buNone/>
              <a:defRPr sz="3000"/>
            </a:lvl4pPr>
            <a:lvl5pPr marL="2743351" indent="0">
              <a:buNone/>
              <a:defRPr sz="3000"/>
            </a:lvl5pPr>
            <a:lvl6pPr marL="3429190" indent="0">
              <a:buNone/>
              <a:defRPr sz="3000"/>
            </a:lvl6pPr>
            <a:lvl7pPr marL="4115028" indent="0">
              <a:buNone/>
              <a:defRPr sz="3000"/>
            </a:lvl7pPr>
            <a:lvl8pPr marL="4800866" indent="0">
              <a:buNone/>
              <a:defRPr sz="3000"/>
            </a:lvl8pPr>
            <a:lvl9pPr marL="5486705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5" y="4114800"/>
            <a:ext cx="4423766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38" indent="0">
              <a:buNone/>
              <a:defRPr sz="2100"/>
            </a:lvl2pPr>
            <a:lvl3pPr marL="1371677" indent="0">
              <a:buNone/>
              <a:defRPr sz="1800"/>
            </a:lvl3pPr>
            <a:lvl4pPr marL="2057515" indent="0">
              <a:buNone/>
              <a:defRPr sz="1500"/>
            </a:lvl4pPr>
            <a:lvl5pPr marL="2743351" indent="0">
              <a:buNone/>
              <a:defRPr sz="1500"/>
            </a:lvl5pPr>
            <a:lvl6pPr marL="3429190" indent="0">
              <a:buNone/>
              <a:defRPr sz="1500"/>
            </a:lvl6pPr>
            <a:lvl7pPr marL="4115028" indent="0">
              <a:buNone/>
              <a:defRPr sz="1500"/>
            </a:lvl7pPr>
            <a:lvl8pPr marL="4800866" indent="0">
              <a:buNone/>
              <a:defRPr sz="1500"/>
            </a:lvl8pPr>
            <a:lvl9pPr marL="548670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4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8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7" y="730250"/>
            <a:ext cx="8701089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1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7" y="730254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7" y="3651251"/>
            <a:ext cx="1183005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6" y="12712703"/>
            <a:ext cx="3086100" cy="730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8789E-E28A-4AA8-8CE6-09BAE36096D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7" y="12712703"/>
            <a:ext cx="4629150" cy="730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6" y="12712703"/>
            <a:ext cx="3086100" cy="730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18E99-2E7A-4FCF-B6E7-8972C625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16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77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18" indent="-342918" algn="l" defTabSz="1371677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57" indent="-342918" algn="l" defTabSz="137167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95" indent="-342918" algn="l" defTabSz="137167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433" indent="-342918" algn="l" defTabSz="137167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271" indent="-342918" algn="l" defTabSz="137167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2110" indent="-342918" algn="l" defTabSz="137167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948" indent="-342918" algn="l" defTabSz="137167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785" indent="-342918" algn="l" defTabSz="137167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623" indent="-342918" algn="l" defTabSz="137167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8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77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515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351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190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5028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866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705" algn="l" defTabSz="13716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BF3E1C5E-F4FB-AD65-C2F3-B16E2D96DB4B}"/>
              </a:ext>
            </a:extLst>
          </p:cNvPr>
          <p:cNvSpPr/>
          <p:nvPr/>
        </p:nvSpPr>
        <p:spPr>
          <a:xfrm>
            <a:off x="2924573" y="3555824"/>
            <a:ext cx="2607709" cy="110727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Does the building meet building-level requirements?</a:t>
            </a:r>
          </a:p>
        </p:txBody>
      </p:sp>
      <p:sp>
        <p:nvSpPr>
          <p:cNvPr id="136" name="Flowchart: Decision 135">
            <a:extLst>
              <a:ext uri="{FF2B5EF4-FFF2-40B4-BE49-F238E27FC236}">
                <a16:creationId xmlns:a16="http://schemas.microsoft.com/office/drawing/2014/main" id="{10AA65B3-6329-0D80-43DF-B9EF39B5A677}"/>
              </a:ext>
            </a:extLst>
          </p:cNvPr>
          <p:cNvSpPr/>
          <p:nvPr/>
        </p:nvSpPr>
        <p:spPr>
          <a:xfrm>
            <a:off x="2923409" y="4933426"/>
            <a:ext cx="2607709" cy="110727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Does each unit meet unit-level requirements?</a:t>
            </a:r>
          </a:p>
        </p:txBody>
      </p:sp>
      <p:sp>
        <p:nvSpPr>
          <p:cNvPr id="162" name="Flowchart: Decision 161">
            <a:extLst>
              <a:ext uri="{FF2B5EF4-FFF2-40B4-BE49-F238E27FC236}">
                <a16:creationId xmlns:a16="http://schemas.microsoft.com/office/drawing/2014/main" id="{1CDBC195-AC53-0CD4-CBAF-2FD066A07A5B}"/>
              </a:ext>
            </a:extLst>
          </p:cNvPr>
          <p:cNvSpPr/>
          <p:nvPr/>
        </p:nvSpPr>
        <p:spPr>
          <a:xfrm>
            <a:off x="3246558" y="8278590"/>
            <a:ext cx="2607709" cy="110727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Does the building fit on the parcel’s buildable area?</a:t>
            </a:r>
          </a:p>
        </p:txBody>
      </p: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239F79A1-6082-13A3-7D4F-8900DACCFD70}"/>
              </a:ext>
            </a:extLst>
          </p:cNvPr>
          <p:cNvCxnSpPr>
            <a:cxnSpLocks/>
            <a:stCxn id="26" idx="1"/>
            <a:endCxn id="561" idx="0"/>
          </p:cNvCxnSpPr>
          <p:nvPr/>
        </p:nvCxnSpPr>
        <p:spPr>
          <a:xfrm rot="10800000" flipV="1">
            <a:off x="1090933" y="4109463"/>
            <a:ext cx="1833641" cy="43876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6F59A6D6-2D49-EA98-89B3-638ED7DAFB1D}"/>
              </a:ext>
            </a:extLst>
          </p:cNvPr>
          <p:cNvCxnSpPr>
            <a:stCxn id="26" idx="2"/>
            <a:endCxn id="136" idx="0"/>
          </p:cNvCxnSpPr>
          <p:nvPr/>
        </p:nvCxnSpPr>
        <p:spPr>
          <a:xfrm flipH="1">
            <a:off x="4227264" y="4663103"/>
            <a:ext cx="1164" cy="270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5" name="Straight Arrow Connector 404">
            <a:extLst>
              <a:ext uri="{FF2B5EF4-FFF2-40B4-BE49-F238E27FC236}">
                <a16:creationId xmlns:a16="http://schemas.microsoft.com/office/drawing/2014/main" id="{C749E2ED-BAC0-5405-BE01-6CD65D7E4D8A}"/>
              </a:ext>
            </a:extLst>
          </p:cNvPr>
          <p:cNvCxnSpPr>
            <a:cxnSpLocks/>
            <a:stCxn id="136" idx="2"/>
          </p:cNvCxnSpPr>
          <p:nvPr/>
        </p:nvCxnSpPr>
        <p:spPr>
          <a:xfrm flipH="1">
            <a:off x="4226395" y="6040705"/>
            <a:ext cx="869" cy="271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9" name="Connector: Elbow 408">
            <a:extLst>
              <a:ext uri="{FF2B5EF4-FFF2-40B4-BE49-F238E27FC236}">
                <a16:creationId xmlns:a16="http://schemas.microsoft.com/office/drawing/2014/main" id="{2690B894-4F9D-11D5-E3F4-D3A414151F10}"/>
              </a:ext>
            </a:extLst>
          </p:cNvPr>
          <p:cNvCxnSpPr>
            <a:cxnSpLocks/>
            <a:stCxn id="26" idx="3"/>
            <a:endCxn id="563" idx="0"/>
          </p:cNvCxnSpPr>
          <p:nvPr/>
        </p:nvCxnSpPr>
        <p:spPr>
          <a:xfrm>
            <a:off x="5532282" y="4109464"/>
            <a:ext cx="1428251" cy="43876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0" name="Arc 409">
            <a:extLst>
              <a:ext uri="{FF2B5EF4-FFF2-40B4-BE49-F238E27FC236}">
                <a16:creationId xmlns:a16="http://schemas.microsoft.com/office/drawing/2014/main" id="{D5231CC4-0B39-EB8D-E9AB-C943A32A930E}"/>
              </a:ext>
            </a:extLst>
          </p:cNvPr>
          <p:cNvSpPr/>
          <p:nvPr/>
        </p:nvSpPr>
        <p:spPr>
          <a:xfrm>
            <a:off x="6742864" y="5476875"/>
            <a:ext cx="219075" cy="21907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4ED6F5A7-6CE3-F79E-9447-4461178D3B76}"/>
              </a:ext>
            </a:extLst>
          </p:cNvPr>
          <p:cNvCxnSpPr>
            <a:stCxn id="136" idx="3"/>
            <a:endCxn id="410" idx="0"/>
          </p:cNvCxnSpPr>
          <p:nvPr/>
        </p:nvCxnSpPr>
        <p:spPr>
          <a:xfrm flipV="1">
            <a:off x="5531118" y="5476875"/>
            <a:ext cx="1321283" cy="10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8ED9887D-3CD1-1A2E-7A74-E26C918132CE}"/>
              </a:ext>
            </a:extLst>
          </p:cNvPr>
          <p:cNvSpPr txBox="1"/>
          <p:nvPr/>
        </p:nvSpPr>
        <p:spPr>
          <a:xfrm rot="16200000">
            <a:off x="3928446" y="4685641"/>
            <a:ext cx="406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98BFD417-2CDF-7BCC-205B-751442EC8598}"/>
              </a:ext>
            </a:extLst>
          </p:cNvPr>
          <p:cNvSpPr txBox="1"/>
          <p:nvPr/>
        </p:nvSpPr>
        <p:spPr>
          <a:xfrm>
            <a:off x="2169479" y="3906400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Ambiguous</a:t>
            </a:r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2F2744DA-4281-0523-D856-AAF372D17E0D}"/>
              </a:ext>
            </a:extLst>
          </p:cNvPr>
          <p:cNvCxnSpPr>
            <a:cxnSpLocks/>
            <a:stCxn id="136" idx="1"/>
            <a:endCxn id="534" idx="2"/>
          </p:cNvCxnSpPr>
          <p:nvPr/>
        </p:nvCxnSpPr>
        <p:spPr>
          <a:xfrm flipH="1">
            <a:off x="1201040" y="5487066"/>
            <a:ext cx="1722369" cy="85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3" name="TextBox 452">
            <a:extLst>
              <a:ext uri="{FF2B5EF4-FFF2-40B4-BE49-F238E27FC236}">
                <a16:creationId xmlns:a16="http://schemas.microsoft.com/office/drawing/2014/main" id="{E5BBC6DD-8544-CDFC-6021-86BDC5C4B5D2}"/>
              </a:ext>
            </a:extLst>
          </p:cNvPr>
          <p:cNvSpPr txBox="1"/>
          <p:nvPr/>
        </p:nvSpPr>
        <p:spPr>
          <a:xfrm>
            <a:off x="2185611" y="5262853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Ambiguous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FCB5E3C0-A436-5A04-5C2F-05F516BAA05C}"/>
              </a:ext>
            </a:extLst>
          </p:cNvPr>
          <p:cNvSpPr txBox="1"/>
          <p:nvPr/>
        </p:nvSpPr>
        <p:spPr>
          <a:xfrm>
            <a:off x="5531837" y="3898100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21E1BE79-7E80-0CDC-4BD3-522EA3ED92E0}"/>
              </a:ext>
            </a:extLst>
          </p:cNvPr>
          <p:cNvSpPr txBox="1"/>
          <p:nvPr/>
        </p:nvSpPr>
        <p:spPr>
          <a:xfrm>
            <a:off x="5522312" y="5264959"/>
            <a:ext cx="3789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C2BADBD8-6C64-03B4-2DBB-1F674B718D66}"/>
              </a:ext>
            </a:extLst>
          </p:cNvPr>
          <p:cNvCxnSpPr>
            <a:cxnSpLocks/>
            <a:stCxn id="162" idx="2"/>
            <a:endCxn id="562" idx="0"/>
          </p:cNvCxnSpPr>
          <p:nvPr/>
        </p:nvCxnSpPr>
        <p:spPr>
          <a:xfrm>
            <a:off x="4550413" y="9385869"/>
            <a:ext cx="6780" cy="257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1" name="TextBox 470">
            <a:extLst>
              <a:ext uri="{FF2B5EF4-FFF2-40B4-BE49-F238E27FC236}">
                <a16:creationId xmlns:a16="http://schemas.microsoft.com/office/drawing/2014/main" id="{4F91C624-7AF6-7BB6-7659-CB4D8F011F76}"/>
              </a:ext>
            </a:extLst>
          </p:cNvPr>
          <p:cNvSpPr txBox="1"/>
          <p:nvPr/>
        </p:nvSpPr>
        <p:spPr>
          <a:xfrm rot="16200000">
            <a:off x="3937971" y="6028666"/>
            <a:ext cx="406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511" name="Flowchart: Connector 510">
            <a:extLst>
              <a:ext uri="{FF2B5EF4-FFF2-40B4-BE49-F238E27FC236}">
                <a16:creationId xmlns:a16="http://schemas.microsoft.com/office/drawing/2014/main" id="{46755675-5821-6551-F272-4D25BCC6EB93}"/>
              </a:ext>
            </a:extLst>
          </p:cNvPr>
          <p:cNvSpPr/>
          <p:nvPr/>
        </p:nvSpPr>
        <p:spPr>
          <a:xfrm>
            <a:off x="3789703" y="2884870"/>
            <a:ext cx="887231" cy="427911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Start</a:t>
            </a:r>
          </a:p>
        </p:txBody>
      </p:sp>
      <p:cxnSp>
        <p:nvCxnSpPr>
          <p:cNvPr id="512" name="Straight Arrow Connector 511">
            <a:extLst>
              <a:ext uri="{FF2B5EF4-FFF2-40B4-BE49-F238E27FC236}">
                <a16:creationId xmlns:a16="http://schemas.microsoft.com/office/drawing/2014/main" id="{8D649C5C-480D-67B5-E06B-3611D376C129}"/>
              </a:ext>
            </a:extLst>
          </p:cNvPr>
          <p:cNvCxnSpPr>
            <a:cxnSpLocks/>
            <a:stCxn id="511" idx="4"/>
            <a:endCxn id="26" idx="0"/>
          </p:cNvCxnSpPr>
          <p:nvPr/>
        </p:nvCxnSpPr>
        <p:spPr>
          <a:xfrm flipH="1">
            <a:off x="4228428" y="3312781"/>
            <a:ext cx="4891" cy="243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8" name="Rectangle: Rounded Corners 517">
            <a:extLst>
              <a:ext uri="{FF2B5EF4-FFF2-40B4-BE49-F238E27FC236}">
                <a16:creationId xmlns:a16="http://schemas.microsoft.com/office/drawing/2014/main" id="{4D0D34A5-C186-0D48-ED01-42C48268507A}"/>
              </a:ext>
            </a:extLst>
          </p:cNvPr>
          <p:cNvSpPr/>
          <p:nvPr/>
        </p:nvSpPr>
        <p:spPr>
          <a:xfrm>
            <a:off x="5058105" y="7137462"/>
            <a:ext cx="1784966" cy="8072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Determine the parcel’s buildable area based on setbacks.</a:t>
            </a:r>
          </a:p>
        </p:txBody>
      </p:sp>
      <p:sp>
        <p:nvSpPr>
          <p:cNvPr id="519" name="Flowchart: Decision 518">
            <a:extLst>
              <a:ext uri="{FF2B5EF4-FFF2-40B4-BE49-F238E27FC236}">
                <a16:creationId xmlns:a16="http://schemas.microsoft.com/office/drawing/2014/main" id="{44DAA0D5-7F08-A73B-3270-91516BB8A64E}"/>
              </a:ext>
            </a:extLst>
          </p:cNvPr>
          <p:cNvSpPr/>
          <p:nvPr/>
        </p:nvSpPr>
        <p:spPr>
          <a:xfrm>
            <a:off x="2929463" y="6300837"/>
            <a:ext cx="2607709" cy="110727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Are the parcel sides labeled?</a:t>
            </a:r>
          </a:p>
        </p:txBody>
      </p:sp>
      <p:cxnSp>
        <p:nvCxnSpPr>
          <p:cNvPr id="525" name="Connector: Elbow 524">
            <a:extLst>
              <a:ext uri="{FF2B5EF4-FFF2-40B4-BE49-F238E27FC236}">
                <a16:creationId xmlns:a16="http://schemas.microsoft.com/office/drawing/2014/main" id="{04D6A733-3A19-A3FB-A9A7-7F71ED000291}"/>
              </a:ext>
            </a:extLst>
          </p:cNvPr>
          <p:cNvCxnSpPr>
            <a:stCxn id="519" idx="3"/>
            <a:endCxn id="518" idx="0"/>
          </p:cNvCxnSpPr>
          <p:nvPr/>
        </p:nvCxnSpPr>
        <p:spPr>
          <a:xfrm>
            <a:off x="5537172" y="6854477"/>
            <a:ext cx="413416" cy="2829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6" name="TextBox 525">
            <a:extLst>
              <a:ext uri="{FF2B5EF4-FFF2-40B4-BE49-F238E27FC236}">
                <a16:creationId xmlns:a16="http://schemas.microsoft.com/office/drawing/2014/main" id="{C9A809DC-7B5B-8A5D-67C3-38C0B59C6F7D}"/>
              </a:ext>
            </a:extLst>
          </p:cNvPr>
          <p:cNvSpPr txBox="1"/>
          <p:nvPr/>
        </p:nvSpPr>
        <p:spPr>
          <a:xfrm>
            <a:off x="5622909" y="6645259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530" name="Flowchart: Decision 529">
            <a:extLst>
              <a:ext uri="{FF2B5EF4-FFF2-40B4-BE49-F238E27FC236}">
                <a16:creationId xmlns:a16="http://schemas.microsoft.com/office/drawing/2014/main" id="{E7EAB05F-349A-49CA-68AA-2EF039399F3B}"/>
              </a:ext>
            </a:extLst>
          </p:cNvPr>
          <p:cNvSpPr/>
          <p:nvPr/>
        </p:nvSpPr>
        <p:spPr>
          <a:xfrm>
            <a:off x="1392159" y="7544231"/>
            <a:ext cx="2607709" cy="110727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Does the building fit on the parcel?</a:t>
            </a:r>
          </a:p>
        </p:txBody>
      </p:sp>
      <p:cxnSp>
        <p:nvCxnSpPr>
          <p:cNvPr id="532" name="Connector: Elbow 531">
            <a:extLst>
              <a:ext uri="{FF2B5EF4-FFF2-40B4-BE49-F238E27FC236}">
                <a16:creationId xmlns:a16="http://schemas.microsoft.com/office/drawing/2014/main" id="{CD3F388B-4A69-65C5-826F-4D028BD637D0}"/>
              </a:ext>
            </a:extLst>
          </p:cNvPr>
          <p:cNvCxnSpPr>
            <a:stCxn id="519" idx="1"/>
            <a:endCxn id="530" idx="0"/>
          </p:cNvCxnSpPr>
          <p:nvPr/>
        </p:nvCxnSpPr>
        <p:spPr>
          <a:xfrm rot="10800000" flipV="1">
            <a:off x="2696015" y="6854477"/>
            <a:ext cx="233449" cy="6897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4" name="Arc 533">
            <a:extLst>
              <a:ext uri="{FF2B5EF4-FFF2-40B4-BE49-F238E27FC236}">
                <a16:creationId xmlns:a16="http://schemas.microsoft.com/office/drawing/2014/main" id="{5B306083-B61F-74BB-3043-DE06CE30EB7D}"/>
              </a:ext>
            </a:extLst>
          </p:cNvPr>
          <p:cNvSpPr/>
          <p:nvPr/>
        </p:nvSpPr>
        <p:spPr>
          <a:xfrm rot="16200000">
            <a:off x="1091502" y="5495592"/>
            <a:ext cx="219075" cy="21907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Arc 534">
            <a:extLst>
              <a:ext uri="{FF2B5EF4-FFF2-40B4-BE49-F238E27FC236}">
                <a16:creationId xmlns:a16="http://schemas.microsoft.com/office/drawing/2014/main" id="{EB401DAF-52A2-EB13-6396-267EBC7CA87F}"/>
              </a:ext>
            </a:extLst>
          </p:cNvPr>
          <p:cNvSpPr/>
          <p:nvPr/>
        </p:nvSpPr>
        <p:spPr>
          <a:xfrm rot="16200000">
            <a:off x="1090932" y="8097870"/>
            <a:ext cx="219075" cy="21907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17430B0A-5BDD-9438-0629-FF3556DD3FDF}"/>
              </a:ext>
            </a:extLst>
          </p:cNvPr>
          <p:cNvCxnSpPr>
            <a:stCxn id="530" idx="1"/>
            <a:endCxn id="535" idx="2"/>
          </p:cNvCxnSpPr>
          <p:nvPr/>
        </p:nvCxnSpPr>
        <p:spPr>
          <a:xfrm flipH="1" flipV="1">
            <a:off x="1200470" y="8097870"/>
            <a:ext cx="1916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0" name="TextBox 539">
            <a:extLst>
              <a:ext uri="{FF2B5EF4-FFF2-40B4-BE49-F238E27FC236}">
                <a16:creationId xmlns:a16="http://schemas.microsoft.com/office/drawing/2014/main" id="{24D13063-9DD8-5CD0-8CE2-20CDB1466074}"/>
              </a:ext>
            </a:extLst>
          </p:cNvPr>
          <p:cNvSpPr txBox="1"/>
          <p:nvPr/>
        </p:nvSpPr>
        <p:spPr>
          <a:xfrm>
            <a:off x="1113044" y="7888815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19D52FCF-3968-E712-C544-2B0FC0489605}"/>
              </a:ext>
            </a:extLst>
          </p:cNvPr>
          <p:cNvCxnSpPr>
            <a:cxnSpLocks/>
            <a:stCxn id="530" idx="3"/>
            <a:endCxn id="549" idx="0"/>
          </p:cNvCxnSpPr>
          <p:nvPr/>
        </p:nvCxnSpPr>
        <p:spPr>
          <a:xfrm>
            <a:off x="3999868" y="8097871"/>
            <a:ext cx="438263" cy="3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9" name="Arc 548">
            <a:extLst>
              <a:ext uri="{FF2B5EF4-FFF2-40B4-BE49-F238E27FC236}">
                <a16:creationId xmlns:a16="http://schemas.microsoft.com/office/drawing/2014/main" id="{5A20EBD5-67F4-192B-05B9-3F20DC57E9D3}"/>
              </a:ext>
            </a:extLst>
          </p:cNvPr>
          <p:cNvSpPr/>
          <p:nvPr/>
        </p:nvSpPr>
        <p:spPr>
          <a:xfrm rot="16200000">
            <a:off x="4438131" y="7992285"/>
            <a:ext cx="219075" cy="219075"/>
          </a:xfrm>
          <a:prstGeom prst="arc">
            <a:avLst>
              <a:gd name="adj1" fmla="val 16200000"/>
              <a:gd name="adj2" fmla="val 553215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Arc 550">
            <a:extLst>
              <a:ext uri="{FF2B5EF4-FFF2-40B4-BE49-F238E27FC236}">
                <a16:creationId xmlns:a16="http://schemas.microsoft.com/office/drawing/2014/main" id="{889CBBC8-8BAB-E729-DAC7-400C5A891F8D}"/>
              </a:ext>
            </a:extLst>
          </p:cNvPr>
          <p:cNvSpPr/>
          <p:nvPr/>
        </p:nvSpPr>
        <p:spPr>
          <a:xfrm>
            <a:off x="6742850" y="8115310"/>
            <a:ext cx="219075" cy="21907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F788B27C-0E39-61B7-9E55-B2749B69E91D}"/>
              </a:ext>
            </a:extLst>
          </p:cNvPr>
          <p:cNvCxnSpPr>
            <a:cxnSpLocks/>
            <a:stCxn id="549" idx="2"/>
            <a:endCxn id="551" idx="0"/>
          </p:cNvCxnSpPr>
          <p:nvPr/>
        </p:nvCxnSpPr>
        <p:spPr>
          <a:xfrm>
            <a:off x="4657125" y="8106032"/>
            <a:ext cx="2195262" cy="92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6" name="TextBox 555">
            <a:extLst>
              <a:ext uri="{FF2B5EF4-FFF2-40B4-BE49-F238E27FC236}">
                <a16:creationId xmlns:a16="http://schemas.microsoft.com/office/drawing/2014/main" id="{5A0EF5E3-DFBB-D80A-F683-2CAC06D97CFC}"/>
              </a:ext>
            </a:extLst>
          </p:cNvPr>
          <p:cNvSpPr txBox="1"/>
          <p:nvPr/>
        </p:nvSpPr>
        <p:spPr>
          <a:xfrm>
            <a:off x="2661292" y="6660264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F2ED0B38-8EFF-882E-2942-38A168A4E3CE}"/>
              </a:ext>
            </a:extLst>
          </p:cNvPr>
          <p:cNvSpPr txBox="1"/>
          <p:nvPr/>
        </p:nvSpPr>
        <p:spPr>
          <a:xfrm rot="16200000">
            <a:off x="4258001" y="9380440"/>
            <a:ext cx="395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561" name="Flowchart: Connector 560">
            <a:extLst>
              <a:ext uri="{FF2B5EF4-FFF2-40B4-BE49-F238E27FC236}">
                <a16:creationId xmlns:a16="http://schemas.microsoft.com/office/drawing/2014/main" id="{6F6E2D5C-F45B-E439-FA7B-7509BDF50F5E}"/>
              </a:ext>
            </a:extLst>
          </p:cNvPr>
          <p:cNvSpPr/>
          <p:nvPr/>
        </p:nvSpPr>
        <p:spPr>
          <a:xfrm>
            <a:off x="459120" y="8497137"/>
            <a:ext cx="1263623" cy="672539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Maybe allowed by base district</a:t>
            </a:r>
          </a:p>
        </p:txBody>
      </p:sp>
      <p:sp>
        <p:nvSpPr>
          <p:cNvPr id="562" name="Flowchart: Connector 561">
            <a:extLst>
              <a:ext uri="{FF2B5EF4-FFF2-40B4-BE49-F238E27FC236}">
                <a16:creationId xmlns:a16="http://schemas.microsoft.com/office/drawing/2014/main" id="{76CC86E1-4860-9096-9DE7-F2B38E6DF63C}"/>
              </a:ext>
            </a:extLst>
          </p:cNvPr>
          <p:cNvSpPr/>
          <p:nvPr/>
        </p:nvSpPr>
        <p:spPr>
          <a:xfrm>
            <a:off x="3925381" y="9643103"/>
            <a:ext cx="1263623" cy="67253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bg1"/>
                </a:solidFill>
              </a:rPr>
              <a:t>Allowed by base district</a:t>
            </a:r>
          </a:p>
        </p:txBody>
      </p:sp>
      <p:sp>
        <p:nvSpPr>
          <p:cNvPr id="563" name="Flowchart: Connector 562">
            <a:extLst>
              <a:ext uri="{FF2B5EF4-FFF2-40B4-BE49-F238E27FC236}">
                <a16:creationId xmlns:a16="http://schemas.microsoft.com/office/drawing/2014/main" id="{55D55C65-40FE-9F0A-9A06-4DB4938188AE}"/>
              </a:ext>
            </a:extLst>
          </p:cNvPr>
          <p:cNvSpPr/>
          <p:nvPr/>
        </p:nvSpPr>
        <p:spPr>
          <a:xfrm>
            <a:off x="6328721" y="8497137"/>
            <a:ext cx="1263623" cy="67253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bg1"/>
                </a:solidFill>
              </a:rPr>
              <a:t>Not allowed by base district</a:t>
            </a: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C770E16E-378D-725A-EF6D-516F8FA36B58}"/>
              </a:ext>
            </a:extLst>
          </p:cNvPr>
          <p:cNvSpPr txBox="1"/>
          <p:nvPr/>
        </p:nvSpPr>
        <p:spPr>
          <a:xfrm>
            <a:off x="4020484" y="7894015"/>
            <a:ext cx="4320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1CF2840F-E89E-0E49-54CA-A1B03178CB34}"/>
              </a:ext>
            </a:extLst>
          </p:cNvPr>
          <p:cNvSpPr txBox="1"/>
          <p:nvPr/>
        </p:nvSpPr>
        <p:spPr>
          <a:xfrm>
            <a:off x="5828318" y="8609829"/>
            <a:ext cx="504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D3A74CAA-63DC-789B-21E1-95CA5D78F48A}"/>
              </a:ext>
            </a:extLst>
          </p:cNvPr>
          <p:cNvSpPr txBox="1"/>
          <p:nvPr/>
        </p:nvSpPr>
        <p:spPr>
          <a:xfrm>
            <a:off x="2447784" y="8809006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Ambiguous</a:t>
            </a:r>
          </a:p>
        </p:txBody>
      </p:sp>
      <p:cxnSp>
        <p:nvCxnSpPr>
          <p:cNvPr id="575" name="Connector: Elbow 574">
            <a:extLst>
              <a:ext uri="{FF2B5EF4-FFF2-40B4-BE49-F238E27FC236}">
                <a16:creationId xmlns:a16="http://schemas.microsoft.com/office/drawing/2014/main" id="{71ACAB8A-4A6A-E968-42F0-AC817B914B7D}"/>
              </a:ext>
            </a:extLst>
          </p:cNvPr>
          <p:cNvCxnSpPr>
            <a:stCxn id="518" idx="1"/>
            <a:endCxn id="162" idx="0"/>
          </p:cNvCxnSpPr>
          <p:nvPr/>
        </p:nvCxnSpPr>
        <p:spPr>
          <a:xfrm rot="10800000" flipV="1">
            <a:off x="4550413" y="7541082"/>
            <a:ext cx="507692" cy="7375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48723154-B24E-0229-2BC7-F0E991F15827}"/>
              </a:ext>
            </a:extLst>
          </p:cNvPr>
          <p:cNvCxnSpPr>
            <a:cxnSpLocks/>
            <a:stCxn id="162" idx="3"/>
            <a:endCxn id="563" idx="2"/>
          </p:cNvCxnSpPr>
          <p:nvPr/>
        </p:nvCxnSpPr>
        <p:spPr>
          <a:xfrm>
            <a:off x="5854267" y="8832230"/>
            <a:ext cx="474454" cy="1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4" name="Straight Arrow Connector 583">
            <a:extLst>
              <a:ext uri="{FF2B5EF4-FFF2-40B4-BE49-F238E27FC236}">
                <a16:creationId xmlns:a16="http://schemas.microsoft.com/office/drawing/2014/main" id="{0EFB330A-DECF-0DEF-16AD-B4953B0604B2}"/>
              </a:ext>
            </a:extLst>
          </p:cNvPr>
          <p:cNvCxnSpPr>
            <a:stCxn id="162" idx="1"/>
            <a:endCxn id="561" idx="6"/>
          </p:cNvCxnSpPr>
          <p:nvPr/>
        </p:nvCxnSpPr>
        <p:spPr>
          <a:xfrm flipH="1">
            <a:off x="1722743" y="8832230"/>
            <a:ext cx="1523815" cy="1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39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AF5294-6DBB-8C30-365E-2A45F26B0F18}"/>
              </a:ext>
            </a:extLst>
          </p:cNvPr>
          <p:cNvSpPr/>
          <p:nvPr/>
        </p:nvSpPr>
        <p:spPr>
          <a:xfrm>
            <a:off x="2081030" y="2450137"/>
            <a:ext cx="1784966" cy="807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Identify requirements for the base district containing the parcel centroid.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B0024F-9319-51C2-FB19-A6577B5B1AA5}"/>
              </a:ext>
            </a:extLst>
          </p:cNvPr>
          <p:cNvSpPr/>
          <p:nvPr/>
        </p:nvSpPr>
        <p:spPr>
          <a:xfrm>
            <a:off x="6010478" y="2450358"/>
            <a:ext cx="1784966" cy="807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Duplicate parcels that are in multiple base districts.</a:t>
            </a:r>
          </a:p>
        </p:txBody>
      </p:sp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BF3E1C5E-F4FB-AD65-C2F3-B16E2D96DB4B}"/>
              </a:ext>
            </a:extLst>
          </p:cNvPr>
          <p:cNvSpPr/>
          <p:nvPr/>
        </p:nvSpPr>
        <p:spPr>
          <a:xfrm>
            <a:off x="2924573" y="3555824"/>
            <a:ext cx="2607709" cy="110727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Does the building meet base district requirements? </a:t>
            </a:r>
          </a:p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(See Figure 2)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ECC593-654A-C47F-8B43-23B1E3D7D20A}"/>
              </a:ext>
            </a:extLst>
          </p:cNvPr>
          <p:cNvSpPr/>
          <p:nvPr/>
        </p:nvSpPr>
        <p:spPr>
          <a:xfrm>
            <a:off x="4045754" y="2450358"/>
            <a:ext cx="1784966" cy="807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Determine residential type and height based on municipal definitions.</a:t>
            </a:r>
          </a:p>
        </p:txBody>
      </p:sp>
      <p:sp>
        <p:nvSpPr>
          <p:cNvPr id="133" name="Flowchart: Decision 132">
            <a:extLst>
              <a:ext uri="{FF2B5EF4-FFF2-40B4-BE49-F238E27FC236}">
                <a16:creationId xmlns:a16="http://schemas.microsoft.com/office/drawing/2014/main" id="{DCB85792-642F-34BC-0706-610D17B07CB7}"/>
              </a:ext>
            </a:extLst>
          </p:cNvPr>
          <p:cNvSpPr/>
          <p:nvPr/>
        </p:nvSpPr>
        <p:spPr>
          <a:xfrm>
            <a:off x="5593038" y="1120093"/>
            <a:ext cx="2607709" cy="1107279"/>
          </a:xfrm>
          <a:prstGeom prst="flowChartDecisio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Is the parcel in a planned development district?</a:t>
            </a:r>
          </a:p>
        </p:txBody>
      </p:sp>
      <p:sp>
        <p:nvSpPr>
          <p:cNvPr id="175" name="Flowchart: Decision 174">
            <a:extLst>
              <a:ext uri="{FF2B5EF4-FFF2-40B4-BE49-F238E27FC236}">
                <a16:creationId xmlns:a16="http://schemas.microsoft.com/office/drawing/2014/main" id="{D9834489-C75C-8673-576B-E00E0A450586}"/>
              </a:ext>
            </a:extLst>
          </p:cNvPr>
          <p:cNvSpPr/>
          <p:nvPr/>
        </p:nvSpPr>
        <p:spPr>
          <a:xfrm>
            <a:off x="2927912" y="4970719"/>
            <a:ext cx="2607709" cy="1107279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bg1"/>
                </a:solidFill>
              </a:rPr>
              <a:t>Is the parcel where the building meets base district requirements in an overlay district?</a:t>
            </a:r>
          </a:p>
        </p:txBody>
      </p:sp>
      <p:sp>
        <p:nvSpPr>
          <p:cNvPr id="187" name="Flowchart: Connector 186">
            <a:extLst>
              <a:ext uri="{FF2B5EF4-FFF2-40B4-BE49-F238E27FC236}">
                <a16:creationId xmlns:a16="http://schemas.microsoft.com/office/drawing/2014/main" id="{0BBF1DC8-0D18-B5FD-A1B2-6A1694041681}"/>
              </a:ext>
            </a:extLst>
          </p:cNvPr>
          <p:cNvSpPr/>
          <p:nvPr/>
        </p:nvSpPr>
        <p:spPr>
          <a:xfrm>
            <a:off x="2293049" y="1458632"/>
            <a:ext cx="887231" cy="427911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Start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36E949-9AF0-AC72-60C3-2760145C96DB}"/>
              </a:ext>
            </a:extLst>
          </p:cNvPr>
          <p:cNvSpPr/>
          <p:nvPr/>
        </p:nvSpPr>
        <p:spPr>
          <a:xfrm>
            <a:off x="3483536" y="1269730"/>
            <a:ext cx="1784966" cy="807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Separate zoning districts into base districts, planned development districts, and overlay districts.</a:t>
            </a:r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3026B9E8-9AAF-7E16-EC63-E1C01A343B6B}"/>
              </a:ext>
            </a:extLst>
          </p:cNvPr>
          <p:cNvSpPr/>
          <p:nvPr/>
        </p:nvSpPr>
        <p:spPr>
          <a:xfrm>
            <a:off x="1733504" y="7586433"/>
            <a:ext cx="887231" cy="427911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Maybe allowed</a:t>
            </a:r>
          </a:p>
        </p:txBody>
      </p: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D2C3FD39-9E28-BB3D-ED8D-F11ABF4D6815}"/>
              </a:ext>
            </a:extLst>
          </p:cNvPr>
          <p:cNvSpPr/>
          <p:nvPr/>
        </p:nvSpPr>
        <p:spPr>
          <a:xfrm>
            <a:off x="8955961" y="7586433"/>
            <a:ext cx="887231" cy="427911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bg1"/>
                </a:solidFill>
              </a:rPr>
              <a:t>Not allowed</a:t>
            </a:r>
          </a:p>
        </p:txBody>
      </p:sp>
      <p:sp>
        <p:nvSpPr>
          <p:cNvPr id="168" name="Flowchart: Connector 167">
            <a:extLst>
              <a:ext uri="{FF2B5EF4-FFF2-40B4-BE49-F238E27FC236}">
                <a16:creationId xmlns:a16="http://schemas.microsoft.com/office/drawing/2014/main" id="{F4403A62-99CA-4209-FFBB-8F2774D2827A}"/>
              </a:ext>
            </a:extLst>
          </p:cNvPr>
          <p:cNvSpPr/>
          <p:nvPr/>
        </p:nvSpPr>
        <p:spPr>
          <a:xfrm>
            <a:off x="5618204" y="7586433"/>
            <a:ext cx="887231" cy="427911"/>
          </a:xfrm>
          <a:prstGeom prst="flowChartConnector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ysClr val="windowText" lastClr="000000"/>
                </a:solidFill>
              </a:rPr>
              <a:t>Allowed</a:t>
            </a:r>
          </a:p>
        </p:txBody>
      </p: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F31705EE-67D6-CC4D-1ACA-05703FB92C28}"/>
              </a:ext>
            </a:extLst>
          </p:cNvPr>
          <p:cNvCxnSpPr>
            <a:cxnSpLocks/>
            <a:stCxn id="133" idx="3"/>
            <a:endCxn id="103" idx="0"/>
          </p:cNvCxnSpPr>
          <p:nvPr/>
        </p:nvCxnSpPr>
        <p:spPr>
          <a:xfrm>
            <a:off x="8200747" y="1673733"/>
            <a:ext cx="1198830" cy="59127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1C51C3EB-E00E-4B77-1669-834E68428F47}"/>
              </a:ext>
            </a:extLst>
          </p:cNvPr>
          <p:cNvCxnSpPr>
            <a:stCxn id="3" idx="3"/>
            <a:endCxn id="133" idx="1"/>
          </p:cNvCxnSpPr>
          <p:nvPr/>
        </p:nvCxnSpPr>
        <p:spPr>
          <a:xfrm>
            <a:off x="5268502" y="1673351"/>
            <a:ext cx="324536" cy="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:a16="http://schemas.microsoft.com/office/drawing/2014/main" id="{3BE60ED6-1660-6CB4-4EA9-20C9E3AAD6C6}"/>
              </a:ext>
            </a:extLst>
          </p:cNvPr>
          <p:cNvSpPr txBox="1"/>
          <p:nvPr/>
        </p:nvSpPr>
        <p:spPr>
          <a:xfrm>
            <a:off x="8169680" y="1478445"/>
            <a:ext cx="406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93B14A-0D86-6544-9A81-0769CAFD67F6}"/>
              </a:ext>
            </a:extLst>
          </p:cNvPr>
          <p:cNvCxnSpPr>
            <a:stCxn id="6" idx="1"/>
            <a:endCxn id="28" idx="3"/>
          </p:cNvCxnSpPr>
          <p:nvPr/>
        </p:nvCxnSpPr>
        <p:spPr>
          <a:xfrm flipH="1">
            <a:off x="5830720" y="2853979"/>
            <a:ext cx="179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FD57035-5DB4-A16C-1670-810E0E6C7E37}"/>
              </a:ext>
            </a:extLst>
          </p:cNvPr>
          <p:cNvCxnSpPr>
            <a:stCxn id="28" idx="1"/>
            <a:endCxn id="5" idx="3"/>
          </p:cNvCxnSpPr>
          <p:nvPr/>
        </p:nvCxnSpPr>
        <p:spPr>
          <a:xfrm rot="10800000">
            <a:off x="3865996" y="2853759"/>
            <a:ext cx="179758" cy="2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9E0F9A1E-DCD0-060D-FA4F-DA020D822334}"/>
              </a:ext>
            </a:extLst>
          </p:cNvPr>
          <p:cNvSpPr/>
          <p:nvPr/>
        </p:nvSpPr>
        <p:spPr>
          <a:xfrm>
            <a:off x="2927911" y="6332374"/>
            <a:ext cx="2607709" cy="1107279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bg1"/>
                </a:solidFill>
              </a:rPr>
              <a:t>Does the overlay relax or restrict base district regulations?</a:t>
            </a:r>
          </a:p>
        </p:txBody>
      </p:sp>
      <p:sp>
        <p:nvSpPr>
          <p:cNvPr id="34" name="Flowchart: Decision 33">
            <a:extLst>
              <a:ext uri="{FF2B5EF4-FFF2-40B4-BE49-F238E27FC236}">
                <a16:creationId xmlns:a16="http://schemas.microsoft.com/office/drawing/2014/main" id="{5CD94DE4-820B-B10F-7A40-7BA15BED2E72}"/>
              </a:ext>
            </a:extLst>
          </p:cNvPr>
          <p:cNvSpPr/>
          <p:nvPr/>
        </p:nvSpPr>
        <p:spPr>
          <a:xfrm>
            <a:off x="6218888" y="5003346"/>
            <a:ext cx="2607709" cy="1107279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bg1"/>
                </a:solidFill>
              </a:rPr>
              <a:t>Is the parcel where the building fails base district requirements in an overlay district?</a:t>
            </a:r>
          </a:p>
        </p:txBody>
      </p:sp>
      <p:sp>
        <p:nvSpPr>
          <p:cNvPr id="99" name="Flowchart: Decision 98">
            <a:extLst>
              <a:ext uri="{FF2B5EF4-FFF2-40B4-BE49-F238E27FC236}">
                <a16:creationId xmlns:a16="http://schemas.microsoft.com/office/drawing/2014/main" id="{84E1D0C6-352B-22E2-8691-1DD52CEB9FCC}"/>
              </a:ext>
            </a:extLst>
          </p:cNvPr>
          <p:cNvSpPr/>
          <p:nvPr/>
        </p:nvSpPr>
        <p:spPr>
          <a:xfrm>
            <a:off x="6218888" y="6357863"/>
            <a:ext cx="2607709" cy="1107279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bg1"/>
                </a:solidFill>
              </a:rPr>
              <a:t>Does the overlay relax, restrict, or replace base district regulations?</a:t>
            </a: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BA3E3845-DDAC-71D3-6DED-C3C59D2A20BD}"/>
              </a:ext>
            </a:extLst>
          </p:cNvPr>
          <p:cNvCxnSpPr>
            <a:stCxn id="133" idx="2"/>
            <a:endCxn id="6" idx="0"/>
          </p:cNvCxnSpPr>
          <p:nvPr/>
        </p:nvCxnSpPr>
        <p:spPr>
          <a:xfrm>
            <a:off x="6896893" y="2227372"/>
            <a:ext cx="6068" cy="222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239F79A1-6082-13A3-7D4F-8900DACCFD70}"/>
              </a:ext>
            </a:extLst>
          </p:cNvPr>
          <p:cNvCxnSpPr>
            <a:cxnSpLocks/>
            <a:stCxn id="26" idx="1"/>
            <a:endCxn id="100" idx="0"/>
          </p:cNvCxnSpPr>
          <p:nvPr/>
        </p:nvCxnSpPr>
        <p:spPr>
          <a:xfrm rot="10800000" flipV="1">
            <a:off x="2177121" y="4109463"/>
            <a:ext cx="747453" cy="34769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0DA74563-5A6D-835B-D4AE-1B6ACC14593E}"/>
              </a:ext>
            </a:extLst>
          </p:cNvPr>
          <p:cNvCxnSpPr>
            <a:stCxn id="175" idx="2"/>
            <a:endCxn id="8" idx="0"/>
          </p:cNvCxnSpPr>
          <p:nvPr/>
        </p:nvCxnSpPr>
        <p:spPr>
          <a:xfrm flipH="1">
            <a:off x="4231766" y="6077998"/>
            <a:ext cx="1" cy="254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AC6561F4-8780-A14F-711C-AE7296454923}"/>
              </a:ext>
            </a:extLst>
          </p:cNvPr>
          <p:cNvCxnSpPr>
            <a:stCxn id="34" idx="2"/>
            <a:endCxn id="99" idx="0"/>
          </p:cNvCxnSpPr>
          <p:nvPr/>
        </p:nvCxnSpPr>
        <p:spPr>
          <a:xfrm>
            <a:off x="7522743" y="6110625"/>
            <a:ext cx="0" cy="247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2" name="Connector: Elbow 301">
            <a:extLst>
              <a:ext uri="{FF2B5EF4-FFF2-40B4-BE49-F238E27FC236}">
                <a16:creationId xmlns:a16="http://schemas.microsoft.com/office/drawing/2014/main" id="{1173DCED-A771-466B-3BB1-C455060271F5}"/>
              </a:ext>
            </a:extLst>
          </p:cNvPr>
          <p:cNvCxnSpPr>
            <a:cxnSpLocks/>
            <a:stCxn id="7" idx="1"/>
            <a:endCxn id="100" idx="4"/>
          </p:cNvCxnSpPr>
          <p:nvPr/>
        </p:nvCxnSpPr>
        <p:spPr>
          <a:xfrm rot="10800000">
            <a:off x="2177121" y="8014344"/>
            <a:ext cx="4039397" cy="5900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1366DED5-9B3A-05EC-40DF-C4D276FDEC27}"/>
              </a:ext>
            </a:extLst>
          </p:cNvPr>
          <p:cNvCxnSpPr>
            <a:cxnSpLocks/>
            <a:stCxn id="187" idx="6"/>
            <a:endCxn id="3" idx="1"/>
          </p:cNvCxnSpPr>
          <p:nvPr/>
        </p:nvCxnSpPr>
        <p:spPr>
          <a:xfrm>
            <a:off x="3180280" y="1672588"/>
            <a:ext cx="303256" cy="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8FE0EA66-AEA4-0249-60A7-BE059AF8D178}"/>
              </a:ext>
            </a:extLst>
          </p:cNvPr>
          <p:cNvSpPr txBox="1"/>
          <p:nvPr/>
        </p:nvSpPr>
        <p:spPr>
          <a:xfrm rot="16200000">
            <a:off x="6607580" y="2173770"/>
            <a:ext cx="406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6F59A6D6-2D49-EA98-89B3-638ED7DAFB1D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227264" y="4663103"/>
            <a:ext cx="1164" cy="270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9" name="Connector: Elbow 408">
            <a:extLst>
              <a:ext uri="{FF2B5EF4-FFF2-40B4-BE49-F238E27FC236}">
                <a16:creationId xmlns:a16="http://schemas.microsoft.com/office/drawing/2014/main" id="{2690B894-4F9D-11D5-E3F4-D3A414151F10}"/>
              </a:ext>
            </a:extLst>
          </p:cNvPr>
          <p:cNvCxnSpPr>
            <a:stCxn id="26" idx="3"/>
            <a:endCxn id="34" idx="0"/>
          </p:cNvCxnSpPr>
          <p:nvPr/>
        </p:nvCxnSpPr>
        <p:spPr>
          <a:xfrm>
            <a:off x="5532282" y="4109464"/>
            <a:ext cx="1990461" cy="8938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8ED9887D-3CD1-1A2E-7A74-E26C918132CE}"/>
              </a:ext>
            </a:extLst>
          </p:cNvPr>
          <p:cNvSpPr txBox="1"/>
          <p:nvPr/>
        </p:nvSpPr>
        <p:spPr>
          <a:xfrm rot="16200000">
            <a:off x="3928446" y="4685641"/>
            <a:ext cx="406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98BFD417-2CDF-7BCC-205B-751442EC8598}"/>
              </a:ext>
            </a:extLst>
          </p:cNvPr>
          <p:cNvSpPr txBox="1"/>
          <p:nvPr/>
        </p:nvSpPr>
        <p:spPr>
          <a:xfrm>
            <a:off x="2169479" y="3906400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Ambiguous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FCB5E3C0-A436-5A04-5C2F-05F516BAA05C}"/>
              </a:ext>
            </a:extLst>
          </p:cNvPr>
          <p:cNvSpPr txBox="1"/>
          <p:nvPr/>
        </p:nvSpPr>
        <p:spPr>
          <a:xfrm>
            <a:off x="6150962" y="3888575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875E9C1B-16E2-5CF8-260A-8D2A00AE645F}"/>
              </a:ext>
            </a:extLst>
          </p:cNvPr>
          <p:cNvSpPr txBox="1"/>
          <p:nvPr/>
        </p:nvSpPr>
        <p:spPr>
          <a:xfrm rot="16200000">
            <a:off x="3940835" y="6076998"/>
            <a:ext cx="406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475" name="Connector: Elbow 474">
            <a:extLst>
              <a:ext uri="{FF2B5EF4-FFF2-40B4-BE49-F238E27FC236}">
                <a16:creationId xmlns:a16="http://schemas.microsoft.com/office/drawing/2014/main" id="{355C0332-23AE-8F5E-A031-7454D9346233}"/>
              </a:ext>
            </a:extLst>
          </p:cNvPr>
          <p:cNvCxnSpPr>
            <a:stCxn id="175" idx="3"/>
            <a:endCxn id="168" idx="0"/>
          </p:cNvCxnSpPr>
          <p:nvPr/>
        </p:nvCxnSpPr>
        <p:spPr>
          <a:xfrm>
            <a:off x="5535621" y="5524359"/>
            <a:ext cx="526199" cy="20620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6" name="TextBox 475">
            <a:extLst>
              <a:ext uri="{FF2B5EF4-FFF2-40B4-BE49-F238E27FC236}">
                <a16:creationId xmlns:a16="http://schemas.microsoft.com/office/drawing/2014/main" id="{D6A6C1A0-D565-7661-987A-953CB4C0F3AA}"/>
              </a:ext>
            </a:extLst>
          </p:cNvPr>
          <p:cNvSpPr txBox="1"/>
          <p:nvPr/>
        </p:nvSpPr>
        <p:spPr>
          <a:xfrm>
            <a:off x="5474687" y="5321962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477" name="Arc 476">
            <a:extLst>
              <a:ext uri="{FF2B5EF4-FFF2-40B4-BE49-F238E27FC236}">
                <a16:creationId xmlns:a16="http://schemas.microsoft.com/office/drawing/2014/main" id="{4245722D-512D-9186-3BB9-902974A5352B}"/>
              </a:ext>
            </a:extLst>
          </p:cNvPr>
          <p:cNvSpPr/>
          <p:nvPr/>
        </p:nvSpPr>
        <p:spPr>
          <a:xfrm rot="16200000">
            <a:off x="2177352" y="6886242"/>
            <a:ext cx="219075" cy="21907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BAA7C1C4-F411-1956-42A2-0D63DE26D7CC}"/>
              </a:ext>
            </a:extLst>
          </p:cNvPr>
          <p:cNvCxnSpPr>
            <a:stCxn id="8" idx="1"/>
            <a:endCxn id="477" idx="2"/>
          </p:cNvCxnSpPr>
          <p:nvPr/>
        </p:nvCxnSpPr>
        <p:spPr>
          <a:xfrm flipH="1">
            <a:off x="2286890" y="6886014"/>
            <a:ext cx="641021" cy="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0" name="TextBox 479">
            <a:extLst>
              <a:ext uri="{FF2B5EF4-FFF2-40B4-BE49-F238E27FC236}">
                <a16:creationId xmlns:a16="http://schemas.microsoft.com/office/drawing/2014/main" id="{8E5E086C-258C-3B72-9785-15C60D95751A}"/>
              </a:ext>
            </a:extLst>
          </p:cNvPr>
          <p:cNvSpPr txBox="1"/>
          <p:nvPr/>
        </p:nvSpPr>
        <p:spPr>
          <a:xfrm>
            <a:off x="2244862" y="6686559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Restrict or</a:t>
            </a:r>
          </a:p>
        </p:txBody>
      </p:sp>
      <p:sp>
        <p:nvSpPr>
          <p:cNvPr id="481" name="Arc 480">
            <a:extLst>
              <a:ext uri="{FF2B5EF4-FFF2-40B4-BE49-F238E27FC236}">
                <a16:creationId xmlns:a16="http://schemas.microsoft.com/office/drawing/2014/main" id="{95B03499-DAC5-9C8F-F559-A20FB2B3BFB3}"/>
              </a:ext>
            </a:extLst>
          </p:cNvPr>
          <p:cNvSpPr/>
          <p:nvPr/>
        </p:nvSpPr>
        <p:spPr>
          <a:xfrm>
            <a:off x="5842745" y="6886575"/>
            <a:ext cx="219075" cy="21907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EBEAEC1A-4D8D-DCC7-E67F-2B3AB9E5634D}"/>
              </a:ext>
            </a:extLst>
          </p:cNvPr>
          <p:cNvCxnSpPr>
            <a:stCxn id="8" idx="3"/>
            <a:endCxn id="481" idx="0"/>
          </p:cNvCxnSpPr>
          <p:nvPr/>
        </p:nvCxnSpPr>
        <p:spPr>
          <a:xfrm>
            <a:off x="5535620" y="6886014"/>
            <a:ext cx="416662" cy="5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4" name="TextBox 483">
            <a:extLst>
              <a:ext uri="{FF2B5EF4-FFF2-40B4-BE49-F238E27FC236}">
                <a16:creationId xmlns:a16="http://schemas.microsoft.com/office/drawing/2014/main" id="{0748FEF3-3FD0-B19B-22E8-C89159B13C56}"/>
              </a:ext>
            </a:extLst>
          </p:cNvPr>
          <p:cNvSpPr txBox="1"/>
          <p:nvPr/>
        </p:nvSpPr>
        <p:spPr>
          <a:xfrm>
            <a:off x="5503262" y="6684037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Relax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82FF24C4-D3E6-9C14-F20D-9335C8866535}"/>
              </a:ext>
            </a:extLst>
          </p:cNvPr>
          <p:cNvSpPr txBox="1"/>
          <p:nvPr/>
        </p:nvSpPr>
        <p:spPr>
          <a:xfrm>
            <a:off x="2317147" y="6827087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replace</a:t>
            </a:r>
          </a:p>
        </p:txBody>
      </p:sp>
      <p:sp>
        <p:nvSpPr>
          <p:cNvPr id="489" name="Arc 488">
            <a:extLst>
              <a:ext uri="{FF2B5EF4-FFF2-40B4-BE49-F238E27FC236}">
                <a16:creationId xmlns:a16="http://schemas.microsoft.com/office/drawing/2014/main" id="{9FBAB929-D9CA-08E8-CE9B-493C6AF9F75A}"/>
              </a:ext>
            </a:extLst>
          </p:cNvPr>
          <p:cNvSpPr/>
          <p:nvPr/>
        </p:nvSpPr>
        <p:spPr>
          <a:xfrm>
            <a:off x="9186020" y="5553075"/>
            <a:ext cx="219075" cy="21907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FCDF2F27-9A17-C9AD-72D2-E98F0E73A1F2}"/>
              </a:ext>
            </a:extLst>
          </p:cNvPr>
          <p:cNvCxnSpPr>
            <a:stCxn id="34" idx="3"/>
            <a:endCxn id="489" idx="0"/>
          </p:cNvCxnSpPr>
          <p:nvPr/>
        </p:nvCxnSpPr>
        <p:spPr>
          <a:xfrm flipV="1">
            <a:off x="8826597" y="5553075"/>
            <a:ext cx="468960" cy="39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2" name="Arc 491">
            <a:extLst>
              <a:ext uri="{FF2B5EF4-FFF2-40B4-BE49-F238E27FC236}">
                <a16:creationId xmlns:a16="http://schemas.microsoft.com/office/drawing/2014/main" id="{A8B80EDB-B6FA-A547-2BB3-93B81C36C000}"/>
              </a:ext>
            </a:extLst>
          </p:cNvPr>
          <p:cNvSpPr/>
          <p:nvPr/>
        </p:nvSpPr>
        <p:spPr>
          <a:xfrm>
            <a:off x="9182054" y="6906765"/>
            <a:ext cx="219075" cy="219075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D99A8F6E-CCDB-ED06-346F-99453DAC8A51}"/>
              </a:ext>
            </a:extLst>
          </p:cNvPr>
          <p:cNvCxnSpPr>
            <a:stCxn id="99" idx="3"/>
            <a:endCxn id="492" idx="0"/>
          </p:cNvCxnSpPr>
          <p:nvPr/>
        </p:nvCxnSpPr>
        <p:spPr>
          <a:xfrm flipV="1">
            <a:off x="8826597" y="6906765"/>
            <a:ext cx="464994" cy="47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5" name="TextBox 494">
            <a:extLst>
              <a:ext uri="{FF2B5EF4-FFF2-40B4-BE49-F238E27FC236}">
                <a16:creationId xmlns:a16="http://schemas.microsoft.com/office/drawing/2014/main" id="{74981C22-D540-D766-92D3-844DA09CF626}"/>
              </a:ext>
            </a:extLst>
          </p:cNvPr>
          <p:cNvSpPr txBox="1"/>
          <p:nvPr/>
        </p:nvSpPr>
        <p:spPr>
          <a:xfrm>
            <a:off x="8732237" y="5350537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42DF6788-D260-E13B-58E6-33080EABA96D}"/>
              </a:ext>
            </a:extLst>
          </p:cNvPr>
          <p:cNvSpPr txBox="1"/>
          <p:nvPr/>
        </p:nvSpPr>
        <p:spPr>
          <a:xfrm>
            <a:off x="8760812" y="6712612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Restrict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136303F6-6163-3823-D871-37B74CFFEA13}"/>
              </a:ext>
            </a:extLst>
          </p:cNvPr>
          <p:cNvSpPr txBox="1"/>
          <p:nvPr/>
        </p:nvSpPr>
        <p:spPr>
          <a:xfrm rot="16200000">
            <a:off x="7226202" y="6103467"/>
            <a:ext cx="406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F2E02916-EA9E-4B1A-989E-9B90932F8992}"/>
              </a:ext>
            </a:extLst>
          </p:cNvPr>
          <p:cNvSpPr txBox="1"/>
          <p:nvPr/>
        </p:nvSpPr>
        <p:spPr>
          <a:xfrm rot="16200000">
            <a:off x="6994712" y="7459904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Relax or</a:t>
            </a:r>
          </a:p>
        </p:txBody>
      </p:sp>
      <p:cxnSp>
        <p:nvCxnSpPr>
          <p:cNvPr id="505" name="Connector: Elbow 504">
            <a:extLst>
              <a:ext uri="{FF2B5EF4-FFF2-40B4-BE49-F238E27FC236}">
                <a16:creationId xmlns:a16="http://schemas.microsoft.com/office/drawing/2014/main" id="{678C18D4-7FD6-4328-4A76-AFF0B49062FA}"/>
              </a:ext>
            </a:extLst>
          </p:cNvPr>
          <p:cNvCxnSpPr>
            <a:stCxn id="5" idx="2"/>
            <a:endCxn id="26" idx="0"/>
          </p:cNvCxnSpPr>
          <p:nvPr/>
        </p:nvCxnSpPr>
        <p:spPr>
          <a:xfrm rot="16200000" flipH="1">
            <a:off x="3451748" y="2779143"/>
            <a:ext cx="298445" cy="12549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16E8D922-EABC-0ED4-C661-BCA00976E113}"/>
              </a:ext>
            </a:extLst>
          </p:cNvPr>
          <p:cNvSpPr txBox="1"/>
          <p:nvPr/>
        </p:nvSpPr>
        <p:spPr>
          <a:xfrm rot="16200000">
            <a:off x="7147904" y="7450378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replace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4981FE56-5975-B6F1-CDF6-2362A978CC55}"/>
              </a:ext>
            </a:extLst>
          </p:cNvPr>
          <p:cNvSpPr/>
          <p:nvPr/>
        </p:nvSpPr>
        <p:spPr>
          <a:xfrm>
            <a:off x="6216517" y="8050770"/>
            <a:ext cx="2607709" cy="1107279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bg1"/>
                </a:solidFill>
              </a:rPr>
              <a:t>Does the building fit on the parcel?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971156-7EA8-50B8-13DF-A76E9047B467}"/>
              </a:ext>
            </a:extLst>
          </p:cNvPr>
          <p:cNvCxnSpPr>
            <a:stCxn id="99" idx="2"/>
            <a:endCxn id="7" idx="0"/>
          </p:cNvCxnSpPr>
          <p:nvPr/>
        </p:nvCxnSpPr>
        <p:spPr>
          <a:xfrm flipH="1">
            <a:off x="7520372" y="7465142"/>
            <a:ext cx="2371" cy="585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C76877-A23E-593C-81E3-DE88E8A905F0}"/>
              </a:ext>
            </a:extLst>
          </p:cNvPr>
          <p:cNvSpPr txBox="1"/>
          <p:nvPr/>
        </p:nvSpPr>
        <p:spPr>
          <a:xfrm>
            <a:off x="5886981" y="8408774"/>
            <a:ext cx="406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DE13465-C57E-DAD8-D9F0-011E27C5898F}"/>
              </a:ext>
            </a:extLst>
          </p:cNvPr>
          <p:cNvCxnSpPr>
            <a:stCxn id="7" idx="3"/>
            <a:endCxn id="103" idx="4"/>
          </p:cNvCxnSpPr>
          <p:nvPr/>
        </p:nvCxnSpPr>
        <p:spPr>
          <a:xfrm flipV="1">
            <a:off x="8824226" y="8014344"/>
            <a:ext cx="575351" cy="5900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EEF0505-31AB-BF84-2AE1-B56D5110EA49}"/>
              </a:ext>
            </a:extLst>
          </p:cNvPr>
          <p:cNvSpPr txBox="1"/>
          <p:nvPr/>
        </p:nvSpPr>
        <p:spPr>
          <a:xfrm>
            <a:off x="8817962" y="8403425"/>
            <a:ext cx="907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70528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4112</TotalTime>
  <Words>228</Words>
  <Application>Microsoft Office PowerPoint</Application>
  <PresentationFormat>Custom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GSD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Voulgaris, Carole Turley</dc:creator>
  <cp:lastModifiedBy>Voulgaris, Carole Turley</cp:lastModifiedBy>
  <cp:revision>14</cp:revision>
  <dcterms:created xsi:type="dcterms:W3CDTF">2025-11-07T14:03:05Z</dcterms:created>
  <dcterms:modified xsi:type="dcterms:W3CDTF">2025-12-05T19:53:55Z</dcterms:modified>
</cp:coreProperties>
</file>